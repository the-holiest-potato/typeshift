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DM Serif Display" charset="1" panose="00000000000000000000"/>
      <p:regular r:id="rId14"/>
    </p:embeddedFont>
    <p:embeddedFont>
      <p:font typeface="Open Sauce" charset="1" panose="00000500000000000000"/>
      <p:regular r:id="rId15"/>
    </p:embeddedFont>
    <p:embeddedFont>
      <p:font typeface="Open Sans Bold" charset="1" panose="00000000000000000000"/>
      <p:regular r:id="rId16"/>
    </p:embeddedFont>
    <p:embeddedFont>
      <p:font typeface="Open Sans" charset="1" panose="00000000000000000000"/>
      <p:regular r:id="rId17"/>
    </p:embeddedFont>
    <p:embeddedFont>
      <p:font typeface="Open Sauce Bold" charset="1" panose="00000800000000000000"/>
      <p:regular r:id="rId18"/>
    </p:embeddedFont>
    <p:embeddedFont>
      <p:font typeface="Archivo Black" charset="1" panose="020B0A03020202020B04"/>
      <p:regular r:id="rId19"/>
    </p:embeddedFont>
    <p:embeddedFont>
      <p:font typeface="Open Sauce Italics" charset="1" panose="00000500000000000000"/>
      <p:regular r:id="rId20"/>
    </p:embeddedFont>
    <p:embeddedFont>
      <p:font typeface="DM Sans Bold" charset="1" panose="00000000000000000000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1961851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TypeShift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4588672"/>
            <a:ext cx="992691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WEB-BASED PLATFORM PRACTICE AND IMPROVE TYPING.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3759" y="6934090"/>
            <a:ext cx="2229898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Aditya Mishra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90428" y="6934090"/>
            <a:ext cx="2666007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2400520100008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7438299"/>
            <a:ext cx="290714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Anushaka Prasad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73919" y="7438299"/>
            <a:ext cx="2666007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2400520100020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8961120"/>
            <a:ext cx="290714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Harshit Yadav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73919" y="8961120"/>
            <a:ext cx="2666007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2400520100038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8423184"/>
            <a:ext cx="290714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Devansh Singh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73919" y="8423184"/>
            <a:ext cx="2666007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2400520100032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8200" y="7904548"/>
            <a:ext cx="290714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Darshika Singh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80903" y="7937885"/>
            <a:ext cx="2666007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2400520100029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3846" y="6289837"/>
            <a:ext cx="423316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TEAM MEMBERS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1233825"/>
            <a:ext cx="3822789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Table of Contents</a:t>
            </a:r>
          </a:p>
        </p:txBody>
      </p:sp>
      <p:sp>
        <p:nvSpPr>
          <p:cNvPr name="AutoShape 4" id="4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613003" y="3393172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13003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67282" y="3393172"/>
            <a:ext cx="253774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Comparison with Existing Systems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67282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21560" y="3393172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Technologies and Tools Used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21560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13003" y="6604353"/>
            <a:ext cx="253774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Development Timeline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13003" y="606833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67282" y="6604353"/>
            <a:ext cx="253774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Current Progress and Work Status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67282" y="606833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21560" y="606833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9233" y="2784984"/>
            <a:ext cx="14929533" cy="6358506"/>
            <a:chOff x="0" y="0"/>
            <a:chExt cx="19906044" cy="8478008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5678019" y="3070049"/>
              <a:ext cx="1885107" cy="2211270"/>
            </a:xfrm>
            <a:custGeom>
              <a:avLst/>
              <a:gdLst/>
              <a:ahLst/>
              <a:cxnLst/>
              <a:rect r="r" b="b" t="t" l="l"/>
              <a:pathLst>
                <a:path h="2211270" w="1885107">
                  <a:moveTo>
                    <a:pt x="0" y="0"/>
                  </a:moveTo>
                  <a:lnTo>
                    <a:pt x="1885107" y="0"/>
                  </a:lnTo>
                  <a:lnTo>
                    <a:pt x="1885107" y="2211269"/>
                  </a:lnTo>
                  <a:lnTo>
                    <a:pt x="0" y="221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2021711" y="3070049"/>
              <a:ext cx="1885107" cy="2211270"/>
            </a:xfrm>
            <a:custGeom>
              <a:avLst/>
              <a:gdLst/>
              <a:ahLst/>
              <a:cxnLst/>
              <a:rect r="r" b="b" t="t" l="l"/>
              <a:pathLst>
                <a:path h="2211270" w="1885107">
                  <a:moveTo>
                    <a:pt x="0" y="0"/>
                  </a:moveTo>
                  <a:lnTo>
                    <a:pt x="1885107" y="0"/>
                  </a:lnTo>
                  <a:lnTo>
                    <a:pt x="1885107" y="2211269"/>
                  </a:lnTo>
                  <a:lnTo>
                    <a:pt x="0" y="221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1800000">
              <a:off x="7263942" y="323150"/>
              <a:ext cx="1885107" cy="2211270"/>
            </a:xfrm>
            <a:custGeom>
              <a:avLst/>
              <a:gdLst/>
              <a:ahLst/>
              <a:cxnLst/>
              <a:rect r="r" b="b" t="t" l="l"/>
              <a:pathLst>
                <a:path h="2211270" w="1885107">
                  <a:moveTo>
                    <a:pt x="0" y="0"/>
                  </a:moveTo>
                  <a:lnTo>
                    <a:pt x="1885107" y="0"/>
                  </a:lnTo>
                  <a:lnTo>
                    <a:pt x="1885107" y="2211269"/>
                  </a:lnTo>
                  <a:lnTo>
                    <a:pt x="0" y="221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9000000">
              <a:off x="10435788" y="5816948"/>
              <a:ext cx="1885107" cy="2211270"/>
            </a:xfrm>
            <a:custGeom>
              <a:avLst/>
              <a:gdLst/>
              <a:ahLst/>
              <a:cxnLst/>
              <a:rect r="r" b="b" t="t" l="l"/>
              <a:pathLst>
                <a:path h="2211270" w="1885107">
                  <a:moveTo>
                    <a:pt x="0" y="0"/>
                  </a:moveTo>
                  <a:lnTo>
                    <a:pt x="1885107" y="0"/>
                  </a:lnTo>
                  <a:lnTo>
                    <a:pt x="1885107" y="2211270"/>
                  </a:lnTo>
                  <a:lnTo>
                    <a:pt x="0" y="221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9000000">
              <a:off x="7263942" y="5816948"/>
              <a:ext cx="1885107" cy="2211270"/>
            </a:xfrm>
            <a:custGeom>
              <a:avLst/>
              <a:gdLst/>
              <a:ahLst/>
              <a:cxnLst/>
              <a:rect r="r" b="b" t="t" l="l"/>
              <a:pathLst>
                <a:path h="2211270" w="1885107">
                  <a:moveTo>
                    <a:pt x="0" y="0"/>
                  </a:moveTo>
                  <a:lnTo>
                    <a:pt x="1885107" y="0"/>
                  </a:lnTo>
                  <a:lnTo>
                    <a:pt x="1885107" y="2211270"/>
                  </a:lnTo>
                  <a:lnTo>
                    <a:pt x="0" y="221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1800000">
              <a:off x="10435788" y="323150"/>
              <a:ext cx="1885107" cy="2211270"/>
            </a:xfrm>
            <a:custGeom>
              <a:avLst/>
              <a:gdLst/>
              <a:ahLst/>
              <a:cxnLst/>
              <a:rect r="r" b="b" t="t" l="l"/>
              <a:pathLst>
                <a:path h="2211270" w="1885107">
                  <a:moveTo>
                    <a:pt x="0" y="0"/>
                  </a:moveTo>
                  <a:lnTo>
                    <a:pt x="1885107" y="0"/>
                  </a:lnTo>
                  <a:lnTo>
                    <a:pt x="1885107" y="2211269"/>
                  </a:lnTo>
                  <a:lnTo>
                    <a:pt x="0" y="221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7492635" y="1875901"/>
              <a:ext cx="4599566" cy="45995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dash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7726207" y="731439"/>
              <a:ext cx="888721" cy="994373"/>
            </a:xfrm>
            <a:custGeom>
              <a:avLst/>
              <a:gdLst/>
              <a:ahLst/>
              <a:cxnLst/>
              <a:rect r="r" b="b" t="t" l="l"/>
              <a:pathLst>
                <a:path h="994373" w="888721">
                  <a:moveTo>
                    <a:pt x="0" y="0"/>
                  </a:moveTo>
                  <a:lnTo>
                    <a:pt x="888722" y="0"/>
                  </a:lnTo>
                  <a:lnTo>
                    <a:pt x="888722" y="994373"/>
                  </a:lnTo>
                  <a:lnTo>
                    <a:pt x="0" y="994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068660" y="3732147"/>
              <a:ext cx="1103825" cy="887074"/>
            </a:xfrm>
            <a:custGeom>
              <a:avLst/>
              <a:gdLst/>
              <a:ahLst/>
              <a:cxnLst/>
              <a:rect r="r" b="b" t="t" l="l"/>
              <a:pathLst>
                <a:path h="887074" w="1103825">
                  <a:moveTo>
                    <a:pt x="0" y="0"/>
                  </a:moveTo>
                  <a:lnTo>
                    <a:pt x="1103825" y="0"/>
                  </a:lnTo>
                  <a:lnTo>
                    <a:pt x="1103825" y="887074"/>
                  </a:lnTo>
                  <a:lnTo>
                    <a:pt x="0" y="887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585416" y="6513567"/>
              <a:ext cx="1029513" cy="1029513"/>
            </a:xfrm>
            <a:custGeom>
              <a:avLst/>
              <a:gdLst/>
              <a:ahLst/>
              <a:cxnLst/>
              <a:rect r="r" b="b" t="t" l="l"/>
              <a:pathLst>
                <a:path h="1029513" w="1029513">
                  <a:moveTo>
                    <a:pt x="0" y="0"/>
                  </a:moveTo>
                  <a:lnTo>
                    <a:pt x="1029513" y="0"/>
                  </a:lnTo>
                  <a:lnTo>
                    <a:pt x="1029513" y="1029513"/>
                  </a:lnTo>
                  <a:lnTo>
                    <a:pt x="0" y="1029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0971663" y="6670414"/>
              <a:ext cx="965757" cy="741219"/>
            </a:xfrm>
            <a:custGeom>
              <a:avLst/>
              <a:gdLst/>
              <a:ahLst/>
              <a:cxnLst/>
              <a:rect r="r" b="b" t="t" l="l"/>
              <a:pathLst>
                <a:path h="741219" w="965757">
                  <a:moveTo>
                    <a:pt x="0" y="0"/>
                  </a:moveTo>
                  <a:lnTo>
                    <a:pt x="965757" y="0"/>
                  </a:lnTo>
                  <a:lnTo>
                    <a:pt x="965757" y="741219"/>
                  </a:lnTo>
                  <a:lnTo>
                    <a:pt x="0" y="741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669218" y="3646061"/>
              <a:ext cx="1020032" cy="1088034"/>
            </a:xfrm>
            <a:custGeom>
              <a:avLst/>
              <a:gdLst/>
              <a:ahLst/>
              <a:cxnLst/>
              <a:rect r="r" b="b" t="t" l="l"/>
              <a:pathLst>
                <a:path h="1088034" w="1020032">
                  <a:moveTo>
                    <a:pt x="0" y="0"/>
                  </a:moveTo>
                  <a:lnTo>
                    <a:pt x="1020032" y="0"/>
                  </a:lnTo>
                  <a:lnTo>
                    <a:pt x="1020032" y="1088034"/>
                  </a:lnTo>
                  <a:lnTo>
                    <a:pt x="0" y="108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0997666" y="812062"/>
              <a:ext cx="913750" cy="913750"/>
            </a:xfrm>
            <a:custGeom>
              <a:avLst/>
              <a:gdLst/>
              <a:ahLst/>
              <a:cxnLst/>
              <a:rect r="r" b="b" t="t" l="l"/>
              <a:pathLst>
                <a:path h="913750" w="913750">
                  <a:moveTo>
                    <a:pt x="0" y="0"/>
                  </a:moveTo>
                  <a:lnTo>
                    <a:pt x="913750" y="0"/>
                  </a:lnTo>
                  <a:lnTo>
                    <a:pt x="913750" y="913750"/>
                  </a:lnTo>
                  <a:lnTo>
                    <a:pt x="0" y="91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4488999" y="3525233"/>
              <a:ext cx="5417045" cy="346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Leaderboard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4488999" y="4099272"/>
              <a:ext cx="5417045" cy="710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 data-driven table layout to display top u</a:t>
              </a: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ser rankings and performance scores.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3659853"/>
              <a:ext cx="5283617" cy="346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Typing</a:t>
              </a: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Environment: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3990053"/>
              <a:ext cx="5283617" cy="710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 centralized "testbox" area designed for the core typ</a:t>
              </a: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ing experience.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179234" y="590875"/>
              <a:ext cx="4927808" cy="346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Navigat</a:t>
              </a: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ion Bar: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3179234" y="1164914"/>
              <a:ext cx="4927808" cy="1079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 consistent header providing quick access to the</a:t>
              </a: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typing test, leaderboard, and user profile.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678948" y="535937"/>
              <a:ext cx="5061237" cy="346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User Authentic</a:t>
              </a: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ation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678948" y="1109976"/>
              <a:ext cx="5061237" cy="1079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A dedicated log</a:t>
              </a: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in gateway featuring username and password inputs, along with a registration link for new users.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3047343" y="6456382"/>
              <a:ext cx="4927808" cy="346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Performance D</a:t>
              </a: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ashboard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3047343" y="7030421"/>
              <a:ext cx="4927808" cy="144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A profile page that tracks i</a:t>
              </a: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ndividual user "Stats," including Highest WPM (Words Per Minute), Average Accuracy, and total Tests Completed.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485181" y="6456382"/>
              <a:ext cx="5216903" cy="346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Live Setti</a:t>
              </a: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ngs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485181" y="7030421"/>
              <a:ext cx="5216903" cy="1447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Functional dropdown menus that allow users to switch between different</a:t>
              </a:r>
              <a:r>
                <a:rPr lang="en-US" sz="16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typing "modes" and "languages" without leaving the main screen.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7585416" y="2995999"/>
              <a:ext cx="4204345" cy="1824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37"/>
                </a:lnSpc>
              </a:pPr>
              <a:r>
                <a:rPr lang="en-US" sz="3955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Project Overview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43806" y="1476885"/>
            <a:ext cx="1600038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ypeShift is a web-based tool built to help users track and improve their typing performance. The platform provides a focused environment for testing speed and accuracy, with a backend designed to store and display progress over time. </a:t>
            </a:r>
          </a:p>
          <a:p>
            <a:pPr algn="just">
              <a:lnSpc>
                <a:spcPts val="3200"/>
              </a:lnSpc>
              <a:spcBef>
                <a:spcPct val="0"/>
              </a:spcBef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10962667" y="338898"/>
            <a:ext cx="156210" cy="161925"/>
            <a:chOff x="0" y="0"/>
            <a:chExt cx="208280" cy="2159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7260" y="50730"/>
              <a:ext cx="110220" cy="113430"/>
            </a:xfrm>
            <a:custGeom>
              <a:avLst/>
              <a:gdLst/>
              <a:ahLst/>
              <a:cxnLst/>
              <a:rect r="r" b="b" t="t" l="l"/>
              <a:pathLst>
                <a:path h="113430" w="110220">
                  <a:moveTo>
                    <a:pt x="110220" y="39440"/>
                  </a:moveTo>
                  <a:cubicBezTo>
                    <a:pt x="94980" y="100400"/>
                    <a:pt x="86090" y="104210"/>
                    <a:pt x="78470" y="108020"/>
                  </a:cubicBezTo>
                  <a:cubicBezTo>
                    <a:pt x="70850" y="111830"/>
                    <a:pt x="61960" y="114370"/>
                    <a:pt x="51800" y="113100"/>
                  </a:cubicBezTo>
                  <a:cubicBezTo>
                    <a:pt x="37830" y="110560"/>
                    <a:pt x="13700" y="99130"/>
                    <a:pt x="6080" y="85160"/>
                  </a:cubicBezTo>
                  <a:cubicBezTo>
                    <a:pt x="-1540" y="72460"/>
                    <a:pt x="-1540" y="45790"/>
                    <a:pt x="3540" y="33090"/>
                  </a:cubicBezTo>
                  <a:cubicBezTo>
                    <a:pt x="6080" y="22930"/>
                    <a:pt x="12430" y="16580"/>
                    <a:pt x="20050" y="11500"/>
                  </a:cubicBezTo>
                  <a:cubicBezTo>
                    <a:pt x="26400" y="5150"/>
                    <a:pt x="35290" y="70"/>
                    <a:pt x="44180" y="70"/>
                  </a:cubicBezTo>
                  <a:cubicBezTo>
                    <a:pt x="58150" y="-1200"/>
                    <a:pt x="94980" y="15310"/>
                    <a:pt x="94980" y="1531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5992970" y="37417"/>
            <a:ext cx="630206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5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891637" y="3223573"/>
          <a:ext cx="12504727" cy="6356442"/>
        </p:xfrm>
        <a:graphic>
          <a:graphicData uri="http://schemas.openxmlformats.org/drawingml/2006/table">
            <a:tbl>
              <a:tblPr/>
              <a:tblGrid>
                <a:gridCol w="3677568"/>
                <a:gridCol w="2662633"/>
                <a:gridCol w="2911935"/>
                <a:gridCol w="3252591"/>
              </a:tblGrid>
              <a:tr h="8507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TypeRacer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Typeshift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MonkeyType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7929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Custom word lists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Limited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55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Difficulty levels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✅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Easy/Common/Hard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Limited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7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Personal progress graph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9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Leaderboard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55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Reaction on mistype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✅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(GIF feature)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9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Login &amp; personal records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827643" y="428942"/>
            <a:ext cx="863271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Project Comparison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76326" y="1865113"/>
            <a:ext cx="10097248" cy="93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87"/>
              </a:lnSpc>
              <a:spcBef>
                <a:spcPct val="0"/>
              </a:spcBef>
            </a:pPr>
            <a:r>
              <a:rPr lang="en-US" sz="242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will </a:t>
            </a:r>
            <a:r>
              <a:rPr lang="en-US" b="true" sz="242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aim</a:t>
            </a:r>
            <a:r>
              <a:rPr lang="en-US" sz="242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to achieve these features after implementing a basic prototype.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992970" y="307201"/>
            <a:ext cx="630206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Tools Used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3002" y="1437467"/>
            <a:ext cx="15441997" cy="823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 F</a:t>
            </a: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rontend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JavaScript – Core programming language for the client side.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React - Building dynamic, component-based user interfaces.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HTML5 &amp; CSS3 – Structure and styling of the website.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 Backend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Node.js – Handles server-side logic.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Express.js – Used to build the API and manage server routes.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 Database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MongoDB – Stores user accounts, statistics, and leaderboard data.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4. Other Tools &amp; Services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Git - Version control system.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GitHub – Source code management and collaboration.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Vite - fast development, instant hot module replacement (HMR), and optimized production builds.</a:t>
            </a:r>
          </a:p>
          <a:p>
            <a:pPr algn="just">
              <a:lnSpc>
                <a:spcPts val="38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566" y="-16875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878" t="-2846" r="-3612" b="-1644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868058" y="3203397"/>
            <a:ext cx="7222375" cy="34338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9090434" y="6637273"/>
            <a:ext cx="5306259" cy="17499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499752" y="534736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Timeline of the Project </a:t>
            </a:r>
          </a:p>
        </p:txBody>
      </p:sp>
      <p:grpSp>
        <p:nvGrpSpPr>
          <p:cNvPr name="Group 6" id="6"/>
          <p:cNvGrpSpPr/>
          <p:nvPr/>
        </p:nvGrpSpPr>
        <p:grpSpPr>
          <a:xfrm rot="-102175">
            <a:off x="1703611" y="3049555"/>
            <a:ext cx="328895" cy="307685"/>
            <a:chOff x="0" y="0"/>
            <a:chExt cx="123826" cy="11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826" cy="115840"/>
            </a:xfrm>
            <a:custGeom>
              <a:avLst/>
              <a:gdLst/>
              <a:ahLst/>
              <a:cxnLst/>
              <a:rect r="r" b="b" t="t" l="l"/>
              <a:pathLst>
                <a:path h="115840" w="123826">
                  <a:moveTo>
                    <a:pt x="61913" y="0"/>
                  </a:moveTo>
                  <a:cubicBezTo>
                    <a:pt x="27719" y="0"/>
                    <a:pt x="0" y="25932"/>
                    <a:pt x="0" y="57920"/>
                  </a:cubicBezTo>
                  <a:cubicBezTo>
                    <a:pt x="0" y="89909"/>
                    <a:pt x="27719" y="115840"/>
                    <a:pt x="61913" y="115840"/>
                  </a:cubicBezTo>
                  <a:cubicBezTo>
                    <a:pt x="96106" y="115840"/>
                    <a:pt x="123826" y="89909"/>
                    <a:pt x="123826" y="57920"/>
                  </a:cubicBezTo>
                  <a:cubicBezTo>
                    <a:pt x="123826" y="25932"/>
                    <a:pt x="96106" y="0"/>
                    <a:pt x="6191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609" y="-84390"/>
              <a:ext cx="100608" cy="18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2175">
            <a:off x="5075635" y="6483431"/>
            <a:ext cx="328895" cy="307685"/>
            <a:chOff x="0" y="0"/>
            <a:chExt cx="123826" cy="115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826" cy="115840"/>
            </a:xfrm>
            <a:custGeom>
              <a:avLst/>
              <a:gdLst/>
              <a:ahLst/>
              <a:cxnLst/>
              <a:rect r="r" b="b" t="t" l="l"/>
              <a:pathLst>
                <a:path h="115840" w="123826">
                  <a:moveTo>
                    <a:pt x="61913" y="0"/>
                  </a:moveTo>
                  <a:cubicBezTo>
                    <a:pt x="27719" y="0"/>
                    <a:pt x="0" y="25932"/>
                    <a:pt x="0" y="57920"/>
                  </a:cubicBezTo>
                  <a:cubicBezTo>
                    <a:pt x="0" y="89909"/>
                    <a:pt x="27719" y="115840"/>
                    <a:pt x="61913" y="115840"/>
                  </a:cubicBezTo>
                  <a:cubicBezTo>
                    <a:pt x="96106" y="115840"/>
                    <a:pt x="123826" y="89909"/>
                    <a:pt x="123826" y="57920"/>
                  </a:cubicBezTo>
                  <a:cubicBezTo>
                    <a:pt x="123826" y="25932"/>
                    <a:pt x="96106" y="0"/>
                    <a:pt x="6191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1609" y="-84390"/>
              <a:ext cx="100608" cy="18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2175">
            <a:off x="10715869" y="6483431"/>
            <a:ext cx="328895" cy="307685"/>
            <a:chOff x="0" y="0"/>
            <a:chExt cx="123826" cy="11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826" cy="115840"/>
            </a:xfrm>
            <a:custGeom>
              <a:avLst/>
              <a:gdLst/>
              <a:ahLst/>
              <a:cxnLst/>
              <a:rect r="r" b="b" t="t" l="l"/>
              <a:pathLst>
                <a:path h="115840" w="123826">
                  <a:moveTo>
                    <a:pt x="61913" y="0"/>
                  </a:moveTo>
                  <a:cubicBezTo>
                    <a:pt x="27719" y="0"/>
                    <a:pt x="0" y="25932"/>
                    <a:pt x="0" y="57920"/>
                  </a:cubicBezTo>
                  <a:cubicBezTo>
                    <a:pt x="0" y="89909"/>
                    <a:pt x="27719" y="115840"/>
                    <a:pt x="61913" y="115840"/>
                  </a:cubicBezTo>
                  <a:cubicBezTo>
                    <a:pt x="96106" y="115840"/>
                    <a:pt x="123826" y="89909"/>
                    <a:pt x="123826" y="57920"/>
                  </a:cubicBezTo>
                  <a:cubicBezTo>
                    <a:pt x="123826" y="25932"/>
                    <a:pt x="96106" y="0"/>
                    <a:pt x="6191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609" y="-84390"/>
              <a:ext cx="100608" cy="18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2175">
            <a:off x="14232245" y="8233405"/>
            <a:ext cx="328895" cy="307685"/>
            <a:chOff x="0" y="0"/>
            <a:chExt cx="123826" cy="11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826" cy="115840"/>
            </a:xfrm>
            <a:custGeom>
              <a:avLst/>
              <a:gdLst/>
              <a:ahLst/>
              <a:cxnLst/>
              <a:rect r="r" b="b" t="t" l="l"/>
              <a:pathLst>
                <a:path h="115840" w="123826">
                  <a:moveTo>
                    <a:pt x="61913" y="0"/>
                  </a:moveTo>
                  <a:cubicBezTo>
                    <a:pt x="27719" y="0"/>
                    <a:pt x="0" y="25932"/>
                    <a:pt x="0" y="57920"/>
                  </a:cubicBezTo>
                  <a:cubicBezTo>
                    <a:pt x="0" y="89909"/>
                    <a:pt x="27719" y="115840"/>
                    <a:pt x="61913" y="115840"/>
                  </a:cubicBezTo>
                  <a:cubicBezTo>
                    <a:pt x="96106" y="115840"/>
                    <a:pt x="123826" y="89909"/>
                    <a:pt x="123826" y="57920"/>
                  </a:cubicBezTo>
                  <a:cubicBezTo>
                    <a:pt x="123826" y="25932"/>
                    <a:pt x="96106" y="0"/>
                    <a:pt x="6191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1609" y="-84390"/>
              <a:ext cx="100608" cy="18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40852" y="2267651"/>
            <a:ext cx="3099230" cy="1871492"/>
            <a:chOff x="0" y="0"/>
            <a:chExt cx="752860" cy="4546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2860" cy="454620"/>
            </a:xfrm>
            <a:custGeom>
              <a:avLst/>
              <a:gdLst/>
              <a:ahLst/>
              <a:cxnLst/>
              <a:rect r="r" b="b" t="t" l="l"/>
              <a:pathLst>
                <a:path h="454620" w="752860">
                  <a:moveTo>
                    <a:pt x="137111" y="0"/>
                  </a:moveTo>
                  <a:lnTo>
                    <a:pt x="615748" y="0"/>
                  </a:lnTo>
                  <a:cubicBezTo>
                    <a:pt x="652113" y="0"/>
                    <a:pt x="686987" y="14446"/>
                    <a:pt x="712701" y="40159"/>
                  </a:cubicBezTo>
                  <a:cubicBezTo>
                    <a:pt x="738414" y="65872"/>
                    <a:pt x="752860" y="100747"/>
                    <a:pt x="752860" y="137111"/>
                  </a:cubicBezTo>
                  <a:lnTo>
                    <a:pt x="752860" y="317508"/>
                  </a:lnTo>
                  <a:cubicBezTo>
                    <a:pt x="752860" y="393233"/>
                    <a:pt x="691473" y="454620"/>
                    <a:pt x="615748" y="454620"/>
                  </a:cubicBezTo>
                  <a:lnTo>
                    <a:pt x="137111" y="454620"/>
                  </a:lnTo>
                  <a:cubicBezTo>
                    <a:pt x="100747" y="454620"/>
                    <a:pt x="65872" y="440174"/>
                    <a:pt x="40159" y="414461"/>
                  </a:cubicBezTo>
                  <a:cubicBezTo>
                    <a:pt x="14446" y="388747"/>
                    <a:pt x="0" y="353872"/>
                    <a:pt x="0" y="317508"/>
                  </a:cubicBezTo>
                  <a:lnTo>
                    <a:pt x="0" y="137111"/>
                  </a:lnTo>
                  <a:cubicBezTo>
                    <a:pt x="0" y="100747"/>
                    <a:pt x="14446" y="65872"/>
                    <a:pt x="40159" y="40159"/>
                  </a:cubicBezTo>
                  <a:cubicBezTo>
                    <a:pt x="65872" y="14446"/>
                    <a:pt x="100747" y="0"/>
                    <a:pt x="13711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52860" cy="492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940"/>
                </a:lnSpc>
              </a:pPr>
              <a:r>
                <a:rPr lang="en-US" sz="2100" spc="210">
                  <a:solidFill>
                    <a:srgbClr val="FFFFFF">
                      <a:alpha val="49804"/>
                    </a:srgbClr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_ . 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521521" y="6839995"/>
            <a:ext cx="3099230" cy="1871492"/>
            <a:chOff x="0" y="0"/>
            <a:chExt cx="752860" cy="4546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2860" cy="454620"/>
            </a:xfrm>
            <a:custGeom>
              <a:avLst/>
              <a:gdLst/>
              <a:ahLst/>
              <a:cxnLst/>
              <a:rect r="r" b="b" t="t" l="l"/>
              <a:pathLst>
                <a:path h="454620" w="752860">
                  <a:moveTo>
                    <a:pt x="137111" y="0"/>
                  </a:moveTo>
                  <a:lnTo>
                    <a:pt x="615748" y="0"/>
                  </a:lnTo>
                  <a:cubicBezTo>
                    <a:pt x="652113" y="0"/>
                    <a:pt x="686987" y="14446"/>
                    <a:pt x="712701" y="40159"/>
                  </a:cubicBezTo>
                  <a:cubicBezTo>
                    <a:pt x="738414" y="65872"/>
                    <a:pt x="752860" y="100747"/>
                    <a:pt x="752860" y="137111"/>
                  </a:cubicBezTo>
                  <a:lnTo>
                    <a:pt x="752860" y="317508"/>
                  </a:lnTo>
                  <a:cubicBezTo>
                    <a:pt x="752860" y="393233"/>
                    <a:pt x="691473" y="454620"/>
                    <a:pt x="615748" y="454620"/>
                  </a:cubicBezTo>
                  <a:lnTo>
                    <a:pt x="137111" y="454620"/>
                  </a:lnTo>
                  <a:cubicBezTo>
                    <a:pt x="100747" y="454620"/>
                    <a:pt x="65872" y="440174"/>
                    <a:pt x="40159" y="414461"/>
                  </a:cubicBezTo>
                  <a:cubicBezTo>
                    <a:pt x="14446" y="388747"/>
                    <a:pt x="0" y="353872"/>
                    <a:pt x="0" y="317508"/>
                  </a:cubicBezTo>
                  <a:lnTo>
                    <a:pt x="0" y="137111"/>
                  </a:lnTo>
                  <a:cubicBezTo>
                    <a:pt x="0" y="100747"/>
                    <a:pt x="14446" y="65872"/>
                    <a:pt x="40159" y="40159"/>
                  </a:cubicBezTo>
                  <a:cubicBezTo>
                    <a:pt x="65872" y="14446"/>
                    <a:pt x="100747" y="0"/>
                    <a:pt x="13711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52860" cy="50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359"/>
                </a:lnSpc>
              </a:pPr>
              <a:r>
                <a:rPr lang="en-US" sz="2400" spc="240">
                  <a:solidFill>
                    <a:srgbClr val="FFFFFF">
                      <a:alpha val="49804"/>
                    </a:srgb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_ . I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30702" y="4607120"/>
            <a:ext cx="3099230" cy="1871492"/>
            <a:chOff x="0" y="0"/>
            <a:chExt cx="752860" cy="4546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2860" cy="454620"/>
            </a:xfrm>
            <a:custGeom>
              <a:avLst/>
              <a:gdLst/>
              <a:ahLst/>
              <a:cxnLst/>
              <a:rect r="r" b="b" t="t" l="l"/>
              <a:pathLst>
                <a:path h="454620" w="752860">
                  <a:moveTo>
                    <a:pt x="137111" y="0"/>
                  </a:moveTo>
                  <a:lnTo>
                    <a:pt x="615748" y="0"/>
                  </a:lnTo>
                  <a:cubicBezTo>
                    <a:pt x="652113" y="0"/>
                    <a:pt x="686987" y="14446"/>
                    <a:pt x="712701" y="40159"/>
                  </a:cubicBezTo>
                  <a:cubicBezTo>
                    <a:pt x="738414" y="65872"/>
                    <a:pt x="752860" y="100747"/>
                    <a:pt x="752860" y="137111"/>
                  </a:cubicBezTo>
                  <a:lnTo>
                    <a:pt x="752860" y="317508"/>
                  </a:lnTo>
                  <a:cubicBezTo>
                    <a:pt x="752860" y="393233"/>
                    <a:pt x="691473" y="454620"/>
                    <a:pt x="615748" y="454620"/>
                  </a:cubicBezTo>
                  <a:lnTo>
                    <a:pt x="137111" y="454620"/>
                  </a:lnTo>
                  <a:cubicBezTo>
                    <a:pt x="100747" y="454620"/>
                    <a:pt x="65872" y="440174"/>
                    <a:pt x="40159" y="414461"/>
                  </a:cubicBezTo>
                  <a:cubicBezTo>
                    <a:pt x="14446" y="388747"/>
                    <a:pt x="0" y="353872"/>
                    <a:pt x="0" y="317508"/>
                  </a:cubicBezTo>
                  <a:lnTo>
                    <a:pt x="0" y="137111"/>
                  </a:lnTo>
                  <a:cubicBezTo>
                    <a:pt x="0" y="100747"/>
                    <a:pt x="14446" y="65872"/>
                    <a:pt x="40159" y="40159"/>
                  </a:cubicBezTo>
                  <a:cubicBezTo>
                    <a:pt x="65872" y="14446"/>
                    <a:pt x="100747" y="0"/>
                    <a:pt x="13711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52860" cy="50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359"/>
                </a:lnSpc>
              </a:pPr>
              <a:r>
                <a:rPr lang="en-US" sz="2400" spc="240">
                  <a:solidFill>
                    <a:srgbClr val="FFFFFF">
                      <a:alpha val="49804"/>
                    </a:srgb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_ . I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565640" y="7880594"/>
            <a:ext cx="3099230" cy="1871492"/>
            <a:chOff x="0" y="0"/>
            <a:chExt cx="752860" cy="4546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2860" cy="454620"/>
            </a:xfrm>
            <a:custGeom>
              <a:avLst/>
              <a:gdLst/>
              <a:ahLst/>
              <a:cxnLst/>
              <a:rect r="r" b="b" t="t" l="l"/>
              <a:pathLst>
                <a:path h="454620" w="752860">
                  <a:moveTo>
                    <a:pt x="137111" y="0"/>
                  </a:moveTo>
                  <a:lnTo>
                    <a:pt x="615748" y="0"/>
                  </a:lnTo>
                  <a:cubicBezTo>
                    <a:pt x="652113" y="0"/>
                    <a:pt x="686987" y="14446"/>
                    <a:pt x="712701" y="40159"/>
                  </a:cubicBezTo>
                  <a:cubicBezTo>
                    <a:pt x="738414" y="65872"/>
                    <a:pt x="752860" y="100747"/>
                    <a:pt x="752860" y="137111"/>
                  </a:cubicBezTo>
                  <a:lnTo>
                    <a:pt x="752860" y="317508"/>
                  </a:lnTo>
                  <a:cubicBezTo>
                    <a:pt x="752860" y="393233"/>
                    <a:pt x="691473" y="454620"/>
                    <a:pt x="615748" y="454620"/>
                  </a:cubicBezTo>
                  <a:lnTo>
                    <a:pt x="137111" y="454620"/>
                  </a:lnTo>
                  <a:cubicBezTo>
                    <a:pt x="100747" y="454620"/>
                    <a:pt x="65872" y="440174"/>
                    <a:pt x="40159" y="414461"/>
                  </a:cubicBezTo>
                  <a:cubicBezTo>
                    <a:pt x="14446" y="388747"/>
                    <a:pt x="0" y="353872"/>
                    <a:pt x="0" y="317508"/>
                  </a:cubicBezTo>
                  <a:lnTo>
                    <a:pt x="0" y="137111"/>
                  </a:lnTo>
                  <a:cubicBezTo>
                    <a:pt x="0" y="100747"/>
                    <a:pt x="14446" y="65872"/>
                    <a:pt x="40159" y="40159"/>
                  </a:cubicBezTo>
                  <a:cubicBezTo>
                    <a:pt x="65872" y="14446"/>
                    <a:pt x="100747" y="0"/>
                    <a:pt x="13711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52860" cy="50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359"/>
                </a:lnSpc>
              </a:pPr>
              <a:r>
                <a:rPr lang="en-US" sz="2400" spc="240">
                  <a:solidFill>
                    <a:srgbClr val="FFFFFF">
                      <a:alpha val="49804"/>
                    </a:srgb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_ . I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140852" y="2407830"/>
            <a:ext cx="3099230" cy="63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Week 1–2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521521" y="7005485"/>
            <a:ext cx="3099230" cy="63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Week 3-4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30702" y="4746260"/>
            <a:ext cx="3099230" cy="63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Week 5-6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565640" y="8006882"/>
            <a:ext cx="3099230" cy="63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Week 7-8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40852" y="3108147"/>
            <a:ext cx="309923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24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Planning &amp; Research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65640" y="8721090"/>
            <a:ext cx="309923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24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Testing &amp; Finalization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30702" y="5287916"/>
            <a:ext cx="309923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24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Core Functionality Implementation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521521" y="7547141"/>
            <a:ext cx="309923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24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UI Design &amp; Development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7540288" y="5092065"/>
            <a:ext cx="161925" cy="160020"/>
            <a:chOff x="0" y="0"/>
            <a:chExt cx="215900" cy="213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50483" y="49884"/>
              <a:ext cx="112077" cy="113134"/>
            </a:xfrm>
            <a:custGeom>
              <a:avLst/>
              <a:gdLst/>
              <a:ahLst/>
              <a:cxnLst/>
              <a:rect r="r" b="b" t="t" l="l"/>
              <a:pathLst>
                <a:path h="113134" w="112077">
                  <a:moveTo>
                    <a:pt x="112077" y="39016"/>
                  </a:moveTo>
                  <a:cubicBezTo>
                    <a:pt x="109537" y="79656"/>
                    <a:pt x="91757" y="99976"/>
                    <a:pt x="80327" y="107596"/>
                  </a:cubicBezTo>
                  <a:cubicBezTo>
                    <a:pt x="71437" y="112676"/>
                    <a:pt x="63817" y="113946"/>
                    <a:pt x="53657" y="112676"/>
                  </a:cubicBezTo>
                  <a:cubicBezTo>
                    <a:pt x="39687" y="110136"/>
                    <a:pt x="16827" y="96166"/>
                    <a:pt x="7937" y="84736"/>
                  </a:cubicBezTo>
                  <a:cubicBezTo>
                    <a:pt x="1587" y="77116"/>
                    <a:pt x="-953" y="69496"/>
                    <a:pt x="317" y="59336"/>
                  </a:cubicBezTo>
                  <a:cubicBezTo>
                    <a:pt x="317" y="45366"/>
                    <a:pt x="9207" y="19966"/>
                    <a:pt x="21907" y="11076"/>
                  </a:cubicBezTo>
                  <a:cubicBezTo>
                    <a:pt x="34607" y="916"/>
                    <a:pt x="60007" y="-1624"/>
                    <a:pt x="73977" y="916"/>
                  </a:cubicBezTo>
                  <a:cubicBezTo>
                    <a:pt x="84137" y="3456"/>
                    <a:pt x="96837" y="14886"/>
                    <a:pt x="96837" y="14886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878" t="-2846" r="-3612" b="-1644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3944416" y="534736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Status of Work Done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497128" y="2236399"/>
            <a:ext cx="13293744" cy="7239393"/>
            <a:chOff x="0" y="0"/>
            <a:chExt cx="17724992" cy="965252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941338"/>
              <a:ext cx="5409702" cy="7657109"/>
              <a:chOff x="0" y="0"/>
              <a:chExt cx="812800" cy="115047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1150470"/>
              </a:xfrm>
              <a:custGeom>
                <a:avLst/>
                <a:gdLst/>
                <a:ahLst/>
                <a:cxnLst/>
                <a:rect r="r" b="b" t="t" l="l"/>
                <a:pathLst>
                  <a:path h="115047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150470"/>
                    </a:lnTo>
                    <a:lnTo>
                      <a:pt x="0" y="1150470"/>
                    </a:ln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28575"/>
                <a:ext cx="812800" cy="1121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650774" y="7544370"/>
              <a:ext cx="2108155" cy="2108155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0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6154242" y="941338"/>
              <a:ext cx="5409702" cy="7657109"/>
              <a:chOff x="0" y="0"/>
              <a:chExt cx="812800" cy="11504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1150470"/>
              </a:xfrm>
              <a:custGeom>
                <a:avLst/>
                <a:gdLst/>
                <a:ahLst/>
                <a:cxnLst/>
                <a:rect r="r" b="b" t="t" l="l"/>
                <a:pathLst>
                  <a:path h="115047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150470"/>
                    </a:lnTo>
                    <a:lnTo>
                      <a:pt x="0" y="1150470"/>
                    </a:ln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28575"/>
                <a:ext cx="812800" cy="1121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7805015" y="7544370"/>
              <a:ext cx="2108155" cy="2108155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0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2315291" y="941338"/>
              <a:ext cx="5409702" cy="7657109"/>
              <a:chOff x="0" y="0"/>
              <a:chExt cx="812800" cy="115047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1150470"/>
              </a:xfrm>
              <a:custGeom>
                <a:avLst/>
                <a:gdLst/>
                <a:ahLst/>
                <a:cxnLst/>
                <a:rect r="r" b="b" t="t" l="l"/>
                <a:pathLst>
                  <a:path h="115047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150470"/>
                    </a:lnTo>
                    <a:lnTo>
                      <a:pt x="0" y="1150470"/>
                    </a:ln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28575"/>
                <a:ext cx="812800" cy="1121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3966064" y="7544370"/>
              <a:ext cx="2108155" cy="210815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23" id="23"/>
            <p:cNvSpPr/>
            <p:nvPr/>
          </p:nvSpPr>
          <p:spPr>
            <a:xfrm flipV="true">
              <a:off x="2704851" y="245265"/>
              <a:ext cx="12070026" cy="0"/>
            </a:xfrm>
            <a:prstGeom prst="line">
              <a:avLst/>
            </a:prstGeom>
            <a:ln cap="flat" w="63500">
              <a:solidFill>
                <a:srgbClr val="A6A6A6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4" id="24"/>
            <p:cNvGrpSpPr/>
            <p:nvPr/>
          </p:nvGrpSpPr>
          <p:grpSpPr>
            <a:xfrm rot="0">
              <a:off x="2459586" y="0"/>
              <a:ext cx="490529" cy="490529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613828" y="0"/>
              <a:ext cx="490529" cy="490529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4774877" y="0"/>
              <a:ext cx="490529" cy="490529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2167851" y="8074147"/>
              <a:ext cx="1074000" cy="1074000"/>
            </a:xfrm>
            <a:custGeom>
              <a:avLst/>
              <a:gdLst/>
              <a:ahLst/>
              <a:cxnLst/>
              <a:rect r="r" b="b" t="t" l="l"/>
              <a:pathLst>
                <a:path h="1074000" w="1074000">
                  <a:moveTo>
                    <a:pt x="0" y="0"/>
                  </a:moveTo>
                  <a:lnTo>
                    <a:pt x="1074000" y="0"/>
                  </a:lnTo>
                  <a:lnTo>
                    <a:pt x="1074000" y="1074000"/>
                  </a:lnTo>
                  <a:lnTo>
                    <a:pt x="0" y="107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8290501" y="7940243"/>
              <a:ext cx="1137182" cy="1341808"/>
            </a:xfrm>
            <a:custGeom>
              <a:avLst/>
              <a:gdLst/>
              <a:ahLst/>
              <a:cxnLst/>
              <a:rect r="r" b="b" t="t" l="l"/>
              <a:pathLst>
                <a:path h="1341808" w="1137182">
                  <a:moveTo>
                    <a:pt x="0" y="0"/>
                  </a:moveTo>
                  <a:lnTo>
                    <a:pt x="1137183" y="0"/>
                  </a:lnTo>
                  <a:lnTo>
                    <a:pt x="1137183" y="1341808"/>
                  </a:lnTo>
                  <a:lnTo>
                    <a:pt x="0" y="1341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4138161" y="8012114"/>
              <a:ext cx="1459160" cy="1147265"/>
            </a:xfrm>
            <a:custGeom>
              <a:avLst/>
              <a:gdLst/>
              <a:ahLst/>
              <a:cxnLst/>
              <a:rect r="r" b="b" t="t" l="l"/>
              <a:pathLst>
                <a:path h="1147265" w="1459160">
                  <a:moveTo>
                    <a:pt x="0" y="0"/>
                  </a:moveTo>
                  <a:lnTo>
                    <a:pt x="1459161" y="0"/>
                  </a:lnTo>
                  <a:lnTo>
                    <a:pt x="1459161" y="1147265"/>
                  </a:lnTo>
                  <a:lnTo>
                    <a:pt x="0" y="1147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600689" y="1491829"/>
              <a:ext cx="4208324" cy="503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0"/>
                </a:lnSpc>
              </a:pPr>
              <a:r>
                <a:rPr lang="en-US" sz="2760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COMPLETED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38508" y="2305805"/>
              <a:ext cx="4442157" cy="4996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10915" indent="-255458" lvl="1">
                <a:lnSpc>
                  <a:spcPts val="3313"/>
                </a:lnSpc>
                <a:buFont typeface="Arial"/>
                <a:buChar char="•"/>
              </a:pPr>
              <a:r>
                <a:rPr lang="en-US" sz="2366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</a:t>
              </a:r>
              <a:r>
                <a:rPr lang="en-US" sz="2366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 and layout planning finished.</a:t>
              </a:r>
            </a:p>
            <a:p>
              <a:pPr algn="just" marL="510915" indent="-255458" lvl="1">
                <a:lnSpc>
                  <a:spcPts val="3313"/>
                </a:lnSpc>
                <a:buFont typeface="Arial"/>
                <a:buChar char="•"/>
              </a:pPr>
              <a:r>
                <a:rPr lang="en-US" sz="2366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Core  features decided.</a:t>
              </a:r>
            </a:p>
            <a:p>
              <a:pPr algn="just" marL="510915" indent="-255458" lvl="1">
                <a:lnSpc>
                  <a:spcPts val="3313"/>
                </a:lnSpc>
                <a:buFont typeface="Arial"/>
                <a:buChar char="•"/>
              </a:pPr>
              <a:r>
                <a:rPr lang="en-US" sz="2366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Interactive Figma prototype built.</a:t>
              </a:r>
            </a:p>
            <a:p>
              <a:pPr algn="just" marL="510915" indent="-255458" lvl="1">
                <a:lnSpc>
                  <a:spcPts val="3313"/>
                </a:lnSpc>
                <a:buFont typeface="Arial"/>
                <a:buChar char="•"/>
              </a:pPr>
              <a:r>
                <a:rPr lang="en-US" sz="2366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 navigation flow  mapped.</a:t>
              </a:r>
            </a:p>
            <a:p>
              <a:pPr algn="just">
                <a:lnSpc>
                  <a:spcPts val="3313"/>
                </a:lnSpc>
              </a:pP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7076556" y="1373179"/>
              <a:ext cx="3571881" cy="503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0"/>
                </a:lnSpc>
              </a:pPr>
              <a:r>
                <a:rPr lang="en-US" sz="2760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ONGOING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6238829" y="2395808"/>
              <a:ext cx="4749999" cy="2761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10915" indent="-255458" lvl="1">
                <a:lnSpc>
                  <a:spcPts val="3313"/>
                </a:lnSpc>
                <a:buFont typeface="Arial"/>
                <a:buChar char="•"/>
              </a:pPr>
              <a:r>
                <a:rPr lang="en-US" sz="2366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</a:t>
              </a:r>
              <a:r>
                <a:rPr lang="en-US" sz="2366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uilding frontend components in React.</a:t>
              </a:r>
            </a:p>
            <a:p>
              <a:pPr algn="just">
                <a:lnSpc>
                  <a:spcPts val="3313"/>
                </a:lnSpc>
              </a:pPr>
            </a:p>
            <a:p>
              <a:pPr algn="just">
                <a:lnSpc>
                  <a:spcPts val="3313"/>
                </a:lnSpc>
              </a:pP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2988936" y="1373179"/>
              <a:ext cx="3571881" cy="503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0"/>
                </a:lnSpc>
              </a:pPr>
              <a:r>
                <a:rPr lang="en-US" sz="2760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PLANNED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2313243" y="2305805"/>
              <a:ext cx="5171194" cy="4996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10915" indent="-255458" lvl="1">
                <a:lnSpc>
                  <a:spcPts val="3313"/>
                </a:lnSpc>
                <a:buFont typeface="Arial"/>
                <a:buChar char="•"/>
              </a:pPr>
              <a:r>
                <a:rPr lang="en-US" sz="2366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Develop back</a:t>
              </a:r>
              <a:r>
                <a:rPr lang="en-US" sz="2366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end and database schema.</a:t>
              </a:r>
            </a:p>
            <a:p>
              <a:pPr algn="just" marL="510915" indent="-255458" lvl="1">
                <a:lnSpc>
                  <a:spcPts val="3313"/>
                </a:lnSpc>
                <a:buFont typeface="Arial"/>
                <a:buChar char="•"/>
              </a:pPr>
              <a:r>
                <a:rPr lang="en-US" sz="2366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Connect MongoDB for user stats.</a:t>
              </a:r>
            </a:p>
            <a:p>
              <a:pPr algn="just" marL="510915" indent="-255458" lvl="1">
                <a:lnSpc>
                  <a:spcPts val="3313"/>
                </a:lnSpc>
                <a:buFont typeface="Arial"/>
                <a:buChar char="•"/>
              </a:pPr>
              <a:r>
                <a:rPr lang="en-US" sz="2366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Code real-time typing logic.</a:t>
              </a:r>
            </a:p>
            <a:p>
              <a:pPr algn="just" marL="510915" indent="-255458" lvl="1">
                <a:lnSpc>
                  <a:spcPts val="3313"/>
                </a:lnSpc>
                <a:buFont typeface="Arial"/>
                <a:buChar char="•"/>
              </a:pPr>
              <a:r>
                <a:rPr lang="en-US" sz="2366">
                  <a:solidFill>
                    <a:srgbClr val="54545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Final hosting and site deployment.</a:t>
              </a:r>
            </a:p>
            <a:p>
              <a:pPr algn="just">
                <a:lnSpc>
                  <a:spcPts val="3313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DAHDS-G2Y5w</dc:identifier>
  <dcterms:modified xsi:type="dcterms:W3CDTF">2011-08-01T06:04:30Z</dcterms:modified>
  <cp:revision>1</cp:revision>
  <dc:title>TypeShift</dc:title>
</cp:coreProperties>
</file>